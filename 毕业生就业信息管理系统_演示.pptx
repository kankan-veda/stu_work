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D4F"/>
          </a:solidFill>
          <a:ln>
            <a:solidFill>
              <a:srgbClr val="122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09728" cy="452628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毕业生就业信息管理系统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" y="21488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BEDCF2"/>
                </a:solidFill>
                <a:latin typeface="Microsoft YaHei"/>
              </a:rPr>
              <a:t>基于 Python Flask + SQLite 的课程设计演示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4712" y="3154680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3163824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学生端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3154680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163824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审核端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3154680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3163824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统计端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886200"/>
            <a:ext cx="8046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icrosoft YaHei"/>
              </a:rPr>
              <a:t>信息录入 · 权限控制 · 协议审核 · 就业统计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598932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DCF2"/>
                </a:solidFill>
                <a:latin typeface="Microsoft YaHei"/>
              </a:rPr>
              <a:t>课程设计答辩材料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59893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BEDCF2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2D4F"/>
                </a:solidFill>
                <a:latin typeface="Microsoft YaHei"/>
              </a:rPr>
              <a:t>一、项目背景与建设目标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50976"/>
            <a:ext cx="658368" cy="54864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896112"/>
            <a:ext cx="9875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07D8B"/>
                </a:solidFill>
                <a:latin typeface="Microsoft YaHei"/>
              </a:rPr>
              <a:t>面向毕业生就业协议收集、审核和统计的轻量化管理工具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  <a:latin typeface="Microsoft YaHei"/>
              </a:rPr>
              <a:t>毕业生就业信息管理系统 · 课程设计演示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1208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22D4F"/>
                </a:solidFill>
                <a:latin typeface="Microsoft YaHei"/>
              </a:rPr>
              <a:t>现实问题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26771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48840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就业信息分散在纸质表格或多个文件中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8620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743200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学生提交、老师审核缺少统一流程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45643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37560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就业数据难以实时汇总和按条件查询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05079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931920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人工统计容易出现重复、遗漏和版本不一致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25880"/>
            <a:ext cx="5349240" cy="4343400"/>
          </a:xfrm>
          <a:prstGeom prst="roundRect">
            <a:avLst>
              <a:gd name="adj" fmla="val 8000"/>
            </a:avLst>
          </a:prstGeom>
          <a:solidFill>
            <a:srgbClr val="E1EFFC"/>
          </a:solidFill>
          <a:ln>
            <a:solidFill>
              <a:srgbClr val="E1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2763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22D4F"/>
                </a:solidFill>
                <a:latin typeface="Microsoft YaHei"/>
              </a:rPr>
              <a:t>建设目标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26771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148840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学生在线维护个人就业信息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8620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743200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就业办集中审核并留下意见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45643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337560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按状态、姓名、学号快速查询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05079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31920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自动生成就业状态与单位性质统计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2D4F"/>
                </a:solidFill>
                <a:latin typeface="Microsoft YaHei"/>
              </a:rPr>
              <a:t>二、系统需求与角色权限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50976"/>
            <a:ext cx="658368" cy="54864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896112"/>
            <a:ext cx="9875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07D8B"/>
                </a:solidFill>
                <a:latin typeface="Microsoft YaHei"/>
              </a:rPr>
              <a:t>围绕“录入—审核—统计”形成闭环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  <a:latin typeface="Microsoft YaHei"/>
              </a:rPr>
              <a:t>毕业生就业信息管理系统 · 课程设计演示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9260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926080" cy="685800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63624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学生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54203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注册/登录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20040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081528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查看个人信息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85876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739896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录入或修改就业信息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517136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398264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查看审核状态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417320"/>
            <a:ext cx="29260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60520" y="1417320"/>
            <a:ext cx="2926080" cy="6858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563624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就业办工作人员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54203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2423160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登录后台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20040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3081528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查询全部记录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85876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3739896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审核通过/驳回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4517136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4398264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查看统计结果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1417320"/>
            <a:ext cx="29260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89520" y="1417320"/>
            <a:ext cx="2926080" cy="6858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1563624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系统管理员能力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254203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2423160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SQLite 数据持久化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60" y="320040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3081528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角色权限隔离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385876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3739896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表单必填校验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9560" y="4517136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4398264"/>
            <a:ext cx="2194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演示数据初始化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2D4F"/>
                </a:solidFill>
                <a:latin typeface="Microsoft YaHei"/>
              </a:rPr>
              <a:t>三、系统总体架构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50976"/>
            <a:ext cx="658368" cy="54864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896112"/>
            <a:ext cx="9875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07D8B"/>
                </a:solidFill>
                <a:latin typeface="Microsoft YaHei"/>
              </a:rPr>
              <a:t>采用简单、易理解、适合课程演示的 Flask 单体架构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  <a:latin typeface="Microsoft YaHei"/>
              </a:rPr>
              <a:t>毕业生就业信息管理系统 · 课程设计演示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10515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22D4F"/>
                </a:solidFill>
                <a:latin typeface="Microsoft YaHei"/>
              </a:rPr>
              <a:t>浏览器 / Web 页面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0020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976D2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64592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22D4F"/>
                </a:solidFill>
                <a:latin typeface="Microsoft YaHei"/>
              </a:rPr>
              <a:t>Flask 路由与权限控制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60020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976D2"/>
                </a:solidFill>
                <a:latin typeface="Microsoft YaHe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64592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22D4F"/>
                </a:solidFill>
                <a:latin typeface="Microsoft YaHei"/>
              </a:rPr>
              <a:t>SQLAlchemy 数据模型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78892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E1EFFC"/>
          </a:solidFill>
          <a:ln>
            <a:solidFill>
              <a:srgbClr val="E1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999232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976D2"/>
                </a:solidFill>
                <a:latin typeface="Microsoft YaHei"/>
              </a:rPr>
              <a:t>Jinja2 模板
学生端 / 工作人员端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78892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>
            <a:solidFill>
              <a:srgbClr val="E0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999232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9688"/>
                </a:solidFill>
                <a:latin typeface="Microsoft YaHei"/>
              </a:rPr>
              <a:t>认证与权限
Session + 角色装饰器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78892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999232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7C00"/>
                </a:solidFill>
                <a:latin typeface="Microsoft YaHei"/>
              </a:rPr>
              <a:t>SQLite 数据库
User / Graduate / Employment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92040"/>
            <a:ext cx="8595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22D4F"/>
                </a:solidFill>
                <a:latin typeface="Microsoft YaHei"/>
              </a:rPr>
              <a:t>特点：依赖少、结构清晰、启动简单，适合课堂演示和功能讲解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2D4F"/>
                </a:solidFill>
                <a:latin typeface="Microsoft YaHei"/>
              </a:rPr>
              <a:t>四、数据库设计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50976"/>
            <a:ext cx="658368" cy="54864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896112"/>
            <a:ext cx="9875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07D8B"/>
                </a:solidFill>
                <a:latin typeface="Microsoft YaHei"/>
              </a:rPr>
              <a:t>三张核心表覆盖用户、毕业生和就业记录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  <a:latin typeface="Microsoft YaHei"/>
              </a:rPr>
              <a:t>毕业生就业信息管理系统 · 课程设计演示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926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2926080" cy="5669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45920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User 用户表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323C"/>
                </a:solidFill>
                <a:latin typeface="Microsoft YaHei"/>
              </a:rPr>
              <a:t>id · username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98064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5323C"/>
                </a:solidFill>
                <a:latin typeface="Microsoft YaHei"/>
              </a:rPr>
              <a:t>password_hash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28415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5323C"/>
                </a:solidFill>
                <a:latin typeface="Microsoft YaHei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58768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5323C"/>
                </a:solidFill>
                <a:latin typeface="Microsoft YaHei"/>
              </a:rPr>
              <a:t>graduate_id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508760"/>
            <a:ext cx="2926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1508760"/>
            <a:ext cx="2926080" cy="566928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645920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Graduate 毕业生表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67712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323C"/>
                </a:solidFill>
                <a:latin typeface="Microsoft YaHei"/>
              </a:rPr>
              <a:t>id · student_no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98064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5323C"/>
                </a:solidFill>
                <a:latin typeface="Microsoft YaHei"/>
              </a:rPr>
              <a:t>name · major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28415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5323C"/>
                </a:solidFill>
                <a:latin typeface="Microsoft YaHei"/>
              </a:rPr>
              <a:t>class_name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58768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5323C"/>
                </a:solidFill>
                <a:latin typeface="Microsoft YaHei"/>
              </a:rPr>
              <a:t>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1508760"/>
            <a:ext cx="29260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1508760"/>
            <a:ext cx="2926080" cy="566928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1645920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Employment 就业表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267712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323C"/>
                </a:solidFill>
                <a:latin typeface="Microsoft YaHei"/>
              </a:rPr>
              <a:t>employment_date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798064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5323C"/>
                </a:solidFill>
                <a:latin typeface="Microsoft YaHei"/>
              </a:rPr>
              <a:t>employer ·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328415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5323C"/>
                </a:solidFill>
                <a:latin typeface="Microsoft YaHei"/>
              </a:rPr>
              <a:t>archive_destination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858768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5323C"/>
                </a:solidFill>
                <a:latin typeface="Microsoft YaHei"/>
              </a:rPr>
              <a:t>status · review_comment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532120"/>
            <a:ext cx="6492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22D4F"/>
                </a:solidFill>
                <a:latin typeface="Microsoft YaHei"/>
              </a:rPr>
              <a:t>1 个毕业生最多对应 1 条就业记录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2D4F"/>
                </a:solidFill>
                <a:latin typeface="Microsoft YaHei"/>
              </a:rPr>
              <a:t>五、核心业务流程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50976"/>
            <a:ext cx="658368" cy="54864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896112"/>
            <a:ext cx="9875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07D8B"/>
                </a:solidFill>
                <a:latin typeface="Microsoft YaHei"/>
              </a:rPr>
              <a:t>学生提交后进入待审核，工作人员处理后形成最终状态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  <a:latin typeface="Microsoft YaHei"/>
              </a:rPr>
              <a:t>毕业生就业信息管理系统 · 课程设计演示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66543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注册 / 登录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账号与学籍信息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35000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607D8B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92024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066543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45059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填写就业信息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78892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单位、时间、档案地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35000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607D8B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92024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92" y="2066543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245059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提交审核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9" y="278892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状态：待审核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1" y="235000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607D8B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92024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122D4F"/>
          </a:solidFill>
          <a:ln>
            <a:solidFill>
              <a:srgbClr val="122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1" y="2066543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5059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工作人员审核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78892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通过或驳回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35000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607D8B"/>
                </a:solidFill>
                <a:latin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192024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2066543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45059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统计查询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78892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按状态汇总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4519" y="4160520"/>
            <a:ext cx="85953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4407408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2D4F"/>
                </a:solidFill>
                <a:latin typeface="Microsoft YaHei"/>
              </a:rPr>
              <a:t>状态流转：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4370832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4379976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待审核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3616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607D8B"/>
                </a:solidFill>
                <a:latin typeface="Microsoft YaHe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4370832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4379976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已通过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3616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607D8B"/>
                </a:solidFill>
                <a:latin typeface="Microsoft YaHei"/>
              </a:rPr>
              <a:t>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4370832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379976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已驳回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2D4F"/>
                </a:solidFill>
                <a:latin typeface="Microsoft YaHei"/>
              </a:rPr>
              <a:t>六、学生端功能演示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50976"/>
            <a:ext cx="658368" cy="54864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896112"/>
            <a:ext cx="9875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07D8B"/>
                </a:solidFill>
                <a:latin typeface="Microsoft YaHei"/>
              </a:rPr>
              <a:t>登录后只看到与本人相关的数据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  <a:latin typeface="Microsoft YaHei"/>
              </a:rPr>
              <a:t>毕业生就业信息管理系统 · 课程设计演示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5166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73352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22D4F"/>
                </a:solidFill>
                <a:latin typeface="Microsoft YaHei"/>
              </a:rPr>
              <a:t>学生个人中心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82496"/>
            <a:ext cx="1143000" cy="310896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91640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student001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67712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07D8B"/>
                </a:solidFill>
                <a:latin typeface="Microsoft YaHei"/>
              </a:rPr>
              <a:t>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267712"/>
            <a:ext cx="3429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323C"/>
                </a:solidFill>
                <a:latin typeface="Microsoft YaHei"/>
              </a:rPr>
              <a:t>2026001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79776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07D8B"/>
                </a:solidFill>
                <a:latin typeface="Microsoft YaHei"/>
              </a:rPr>
              <a:t>姓名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779776"/>
            <a:ext cx="3429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323C"/>
                </a:solidFill>
                <a:latin typeface="Microsoft YaHei"/>
              </a:rPr>
              <a:t>张三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07D8B"/>
                </a:solidFill>
                <a:latin typeface="Microsoft YaHei"/>
              </a:rPr>
              <a:t>专业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91840"/>
            <a:ext cx="3429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323C"/>
                </a:solidFill>
                <a:latin typeface="Microsoft YaHei"/>
              </a:rPr>
              <a:t>计算机科学与技术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0390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07D8B"/>
                </a:solidFill>
                <a:latin typeface="Microsoft YaHei"/>
              </a:rPr>
              <a:t>班级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803904"/>
            <a:ext cx="3429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323C"/>
                </a:solidFill>
                <a:latin typeface="Microsoft YaHei"/>
              </a:rPr>
              <a:t>计科2201班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15968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07D8B"/>
                </a:solidFill>
                <a:latin typeface="Microsoft YaHei"/>
              </a:rPr>
              <a:t>电话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315968"/>
            <a:ext cx="3429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323C"/>
                </a:solidFill>
                <a:latin typeface="Microsoft YaHei"/>
              </a:rPr>
              <a:t>13800000000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5166360" cy="4480560"/>
          </a:xfrm>
          <a:prstGeom prst="roundRect">
            <a:avLst>
              <a:gd name="adj" fmla="val 8000"/>
            </a:avLst>
          </a:prstGeom>
          <a:solidFill>
            <a:srgbClr val="E1EFFC"/>
          </a:solidFill>
          <a:ln>
            <a:solidFill>
              <a:srgbClr val="E1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673352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22D4F"/>
                </a:solidFill>
                <a:latin typeface="Microsoft YaHei"/>
              </a:rPr>
              <a:t>就业信息维护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2404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286000"/>
            <a:ext cx="3931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就业时间、就业单位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026664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907792"/>
            <a:ext cx="3931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单位性质、工作岗位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648456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529584"/>
            <a:ext cx="3931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档案发往地、备注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427024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151376"/>
            <a:ext cx="3931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5323C"/>
                </a:solidFill>
                <a:latin typeface="Microsoft YaHei"/>
              </a:rPr>
              <a:t>修改后自动重新进入待审核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4892040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901183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提交审核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2D4F"/>
                </a:solidFill>
                <a:latin typeface="Microsoft YaHei"/>
              </a:rPr>
              <a:t>七、工作人员端功能演示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50976"/>
            <a:ext cx="658368" cy="54864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896112"/>
            <a:ext cx="9875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07D8B"/>
                </a:solidFill>
                <a:latin typeface="Microsoft YaHei"/>
              </a:rPr>
              <a:t>集中完成查询、审核和统计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  <a:latin typeface="Microsoft YaHei"/>
              </a:rPr>
              <a:t>毕业生就业信息管理系统 · 课程设计演示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4612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1907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22D4F"/>
                </a:solidFill>
                <a:latin typeface="Microsoft YaHei"/>
              </a:rPr>
              <a:t>记录查询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45059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姓名 / 学号关键词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13639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待审核 / 已通过 / 已驳回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82219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70332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查看完整就业信息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417320"/>
            <a:ext cx="3246120" cy="443484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>
            <a:solidFill>
              <a:srgbClr val="E0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71907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9688"/>
                </a:solidFill>
                <a:latin typeface="Microsoft YaHei"/>
              </a:rPr>
              <a:t>审核处理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45059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33172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核对就业协议相关信息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13639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01752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填写审核意见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82219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70332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选择通过或驳回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50799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438912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记录审核时间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1417320"/>
            <a:ext cx="3246120" cy="44348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171907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57C00"/>
                </a:solidFill>
                <a:latin typeface="Microsoft YaHei"/>
              </a:rPr>
              <a:t>数据统计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245059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33172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记录总数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313639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01752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待审核数量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382219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370332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审核通过数量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200" y="450799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4389120"/>
            <a:ext cx="2331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5323C"/>
                </a:solidFill>
                <a:latin typeface="Microsoft YaHei"/>
              </a:rPr>
              <a:t>单位性质分布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2D4F"/>
                </a:solidFill>
                <a:latin typeface="Microsoft YaHei"/>
              </a:rPr>
              <a:t>八、运行方式与演示账号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50976"/>
            <a:ext cx="658368" cy="54864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896112"/>
            <a:ext cx="9875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07D8B"/>
                </a:solidFill>
                <a:latin typeface="Microsoft YaHei"/>
              </a:rPr>
              <a:t>从安装到启动只需要几条命令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07D8B"/>
                </a:solidFill>
                <a:latin typeface="Microsoft YaHei"/>
              </a:rPr>
              <a:t>毕业生就业信息管理系统 · 课程设计演示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6446520" cy="4343400"/>
          </a:xfrm>
          <a:prstGeom prst="roundRect">
            <a:avLst>
              <a:gd name="adj" fmla="val 8000"/>
            </a:avLst>
          </a:prstGeom>
          <a:solidFill>
            <a:srgbClr val="122D4F"/>
          </a:solidFill>
          <a:ln>
            <a:solidFill>
              <a:srgbClr val="122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启动命令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2D2C8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313432"/>
            <a:ext cx="4983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90087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2D2C8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971800"/>
            <a:ext cx="4983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flask --app app init-demo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48456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2D2C8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630168"/>
            <a:ext cx="4983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python app.py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06824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2D2C8"/>
                </a:solidFill>
                <a:latin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88536"/>
            <a:ext cx="4983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浏览器访问 http://127.0.0.1:5000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417320"/>
            <a:ext cx="3749039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73736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22D4F"/>
                </a:solidFill>
                <a:latin typeface="Microsoft YaHei"/>
              </a:rPr>
              <a:t>演示账号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423160"/>
            <a:ext cx="822960" cy="310896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432303"/>
            <a:ext cx="822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学生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42316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5323C"/>
                </a:solidFill>
                <a:latin typeface="Microsoft YaHei"/>
              </a:rPr>
              <a:t>student001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816352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07D8B"/>
                </a:solidFill>
                <a:latin typeface="Microsoft YaHei"/>
              </a:rPr>
              <a:t>123456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657600"/>
            <a:ext cx="1143000" cy="310896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3666744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工作人员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576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5323C"/>
                </a:solidFill>
                <a:latin typeface="Microsoft YaHei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050791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07D8B"/>
                </a:solidFill>
                <a:latin typeface="Microsoft YaHei"/>
              </a:rPr>
              <a:t>admin123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项目总结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08760"/>
            <a:ext cx="7955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BEDCF2"/>
                </a:solidFill>
                <a:latin typeface="Microsoft YaHei"/>
              </a:rPr>
              <a:t>用一个轻量系统，把就业信息管理流程串起来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971800" cy="1554480"/>
          </a:xfrm>
          <a:prstGeom prst="roundRect">
            <a:avLst>
              <a:gd name="adj" fmla="val 8000"/>
            </a:avLst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99232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可用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84448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功能闭环完整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743200"/>
            <a:ext cx="2971800" cy="155448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999232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易懂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584448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结构清晰易讲解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743200"/>
            <a:ext cx="2971800" cy="155448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2999232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可扩展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3584448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可接入真实业务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3657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谢谢！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5532120"/>
            <a:ext cx="1234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300" b="1">
                <a:solidFill>
                  <a:srgbClr val="BEDCF2"/>
                </a:solidFill>
                <a:latin typeface="Microsoft YaHei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